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d996f40c6c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d996f40c6c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d996f40c6c_0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d996f40c6c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d996f40c6c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d996f40c6c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d996f40c6c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d996f40c6c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d996f40c6c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d996f40c6c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d996f40c6c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d996f40c6c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996f40c6c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996f40c6c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d996f40c6c_0_4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d996f40c6c_0_4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d996f40c6c_0_4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d996f40c6c_0_4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Vehicle Routing Problem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By Adam Campbell, Tyler Gill, and Tristan Worthington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What is the Vehicle Routing Problem (VRP)?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Find the most efficient route between a set of points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Dealing with </a:t>
            </a:r>
            <a:r>
              <a:rPr lang="en">
                <a:solidFill>
                  <a:schemeClr val="dk1"/>
                </a:solidFill>
              </a:rPr>
              <a:t>constraints like capacity and Distance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Contains the Traveling Salesman Problem (TSP) as a special case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Labeled as NP-Hard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Examination of the VRP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Ant Colony Optimization (Nature Inspired)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Clarke-Wright (CW)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Nearest Neighbor Heuristic (NN)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Tabu Search (TS)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Methodology</a:t>
            </a:r>
            <a:endParaRPr/>
          </a:p>
        </p:txBody>
      </p:sp>
      <p:sp>
        <p:nvSpPr>
          <p:cNvPr id="67" name="Google Shape;67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Programming Implementation - C++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Compiled Language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Control over low-level memory (manipulation of data structures)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Experimentation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Testing Multiple Input sizes (Euclidean Coordinates)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Each algorithm ran for 20 trials per configuration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Compared total route distances to assess accuracy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Averaged runtimes across each trial for each input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1</a:t>
            </a:r>
            <a:endParaRPr/>
          </a:p>
        </p:txBody>
      </p:sp>
      <p:sp>
        <p:nvSpPr>
          <p:cNvPr id="73" name="Google Shape;73;p16"/>
          <p:cNvSpPr txBox="1"/>
          <p:nvPr>
            <p:ph idx="1" type="body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does the runtime of each algorithm grow as input (n) increases?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As input (n) grows, each algorithm grows</a:t>
            </a:r>
            <a:endParaRPr>
              <a:solidFill>
                <a:schemeClr val="dk1"/>
              </a:solidFill>
            </a:endParaRPr>
          </a:p>
          <a:p>
            <a:pPr indent="-317500" lvl="2" marL="13716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■"/>
            </a:pPr>
            <a:r>
              <a:rPr lang="en">
                <a:solidFill>
                  <a:schemeClr val="dk1"/>
                </a:solidFill>
              </a:rPr>
              <a:t>Each at different rates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NN exhibits slowesth growth -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O(n²) </a:t>
            </a:r>
            <a:endParaRPr sz="15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CW shows moderate growth - </a:t>
            </a:r>
            <a:r>
              <a:rPr lang="en" sz="12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O(n</a:t>
            </a:r>
            <a:r>
              <a:rPr lang="en" sz="17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²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log n)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>
                <a:solidFill>
                  <a:schemeClr val="dk1"/>
                </a:solidFill>
              </a:rPr>
              <a:t>TS has steeper growth rate - </a:t>
            </a:r>
            <a:r>
              <a:rPr lang="en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O(k*n)</a:t>
            </a: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  <a:latin typeface="Times New Roman"/>
                <a:ea typeface="Times New Roman"/>
                <a:cs typeface="Times New Roman"/>
                <a:sym typeface="Times New Roman"/>
              </a:rPr>
              <a:t> </a:t>
            </a:r>
            <a:endParaRPr sz="1500">
              <a:solidFill>
                <a:schemeClr val="dk1"/>
              </a:solidFill>
              <a:highlight>
                <a:srgbClr val="FFFFFF"/>
              </a:highlight>
              <a:latin typeface="Times New Roman"/>
              <a:ea typeface="Times New Roman"/>
              <a:cs typeface="Times New Roman"/>
              <a:sym typeface="Times New Roman"/>
            </a:endParaRPr>
          </a:p>
          <a:p>
            <a:pPr indent="-3238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</a:pPr>
            <a:r>
              <a:rPr lang="en" sz="1500">
                <a:solidFill>
                  <a:schemeClr val="dk1"/>
                </a:solidFill>
                <a:highlight>
                  <a:srgbClr val="FFFFFF"/>
                </a:highlight>
              </a:rPr>
              <a:t>Ant Colony - Increase in runtime, high computational cost</a:t>
            </a:r>
            <a:endParaRPr sz="1500">
              <a:solidFill>
                <a:schemeClr val="dk1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2</a:t>
            </a:r>
            <a:endParaRPr/>
          </a:p>
        </p:txBody>
      </p:sp>
      <p:sp>
        <p:nvSpPr>
          <p:cNvPr id="79" name="Google Shape;79;p17"/>
          <p:cNvSpPr txBox="1"/>
          <p:nvPr>
            <p:ph idx="1" type="body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At what input size does one algorithm outperform another</a:t>
            </a:r>
            <a:r>
              <a:rPr lang="en">
                <a:solidFill>
                  <a:schemeClr val="dk1"/>
                </a:solidFill>
              </a:rPr>
              <a:t>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crossover was found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Each algorithm outperformed the next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Suggests stable performance ordering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2 - Drawbacks/Further Look</a:t>
            </a:r>
            <a:endParaRPr/>
          </a:p>
        </p:txBody>
      </p:sp>
      <p:sp>
        <p:nvSpPr>
          <p:cNvPr id="85" name="Google Shape;85;p18"/>
          <p:cNvSpPr txBox="1"/>
          <p:nvPr>
            <p:ph idx="1" type="body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Key limitations - Limited range of input sizes &amp; comparison to optimal solution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Crossover point missed 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experimentation - large scale instances and best-known solution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i="1" lang="en">
                <a:solidFill>
                  <a:schemeClr val="dk1"/>
                </a:solidFill>
              </a:rPr>
              <a:t>Input size at which higher cost algorithms begin to justify runtime when compared to solution quality</a:t>
            </a:r>
            <a:endParaRPr i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Ultimately, order of scalability remains same across each input size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3</a:t>
            </a:r>
            <a:endParaRPr/>
          </a:p>
        </p:txBody>
      </p:sp>
      <p:sp>
        <p:nvSpPr>
          <p:cNvPr id="91" name="Google Shape;91;p19"/>
          <p:cNvSpPr txBox="1"/>
          <p:nvPr>
            <p:ph idx="1" type="body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How does runtime compare to solution accuracy?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Unexpected Results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3/4</a:t>
            </a:r>
            <a:r>
              <a:rPr lang="en">
                <a:solidFill>
                  <a:schemeClr val="dk1"/>
                </a:solidFill>
              </a:rPr>
              <a:t> algorithms perform nearly the same in terms of solution accuracy - slight deviations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Tabu Search breaks trend at n = 100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Failed to </a:t>
            </a:r>
            <a:r>
              <a:rPr lang="en">
                <a:solidFill>
                  <a:schemeClr val="dk1"/>
                </a:solidFill>
              </a:rPr>
              <a:t>outperform</a:t>
            </a:r>
            <a:r>
              <a:rPr lang="en">
                <a:solidFill>
                  <a:schemeClr val="dk1"/>
                </a:solidFill>
              </a:rPr>
              <a:t> simple heuristics - counterproductive at scale</a:t>
            </a:r>
            <a:endParaRPr>
              <a:solidFill>
                <a:schemeClr val="dk1"/>
              </a:solidFill>
            </a:endParaRPr>
          </a:p>
          <a:p>
            <a:pPr indent="0" lvl="0" marL="9144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Research Question 3 - Drawbacks/Further Look</a:t>
            </a:r>
            <a:endParaRPr/>
          </a:p>
        </p:txBody>
      </p:sp>
      <p:sp>
        <p:nvSpPr>
          <p:cNvPr id="97" name="Google Shape;97;p20"/>
          <p:cNvSpPr txBox="1"/>
          <p:nvPr>
            <p:ph idx="1" type="body"/>
          </p:nvPr>
        </p:nvSpPr>
        <p:spPr>
          <a:xfrm>
            <a:off x="311700" y="1152475"/>
            <a:ext cx="49077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Key limitations - Limited range of input sizes &amp; comparison to optimal solution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No true measurement made - only relative measurements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Further experimentation - large scale instances, best-known solution, more trials</a:t>
            </a:r>
            <a:endParaRPr i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103" name="Google Shape;103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Purpose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Evaluate runtime scalability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Find solution accuracy of heuristic/metaheuristic approaches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Results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Consistent tradeoff between efficiency and accuracy - NN &amp; CW scale well, maintain low runtime 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TS and Ant Colony achieve higher quality at a significant computational cost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">
                <a:solidFill>
                  <a:schemeClr val="dk1"/>
                </a:solidFill>
              </a:rPr>
              <a:t>No crossover observed - Limited by scope of input size, parameters, no optimal solution comparison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">
                <a:solidFill>
                  <a:schemeClr val="dk1"/>
                </a:solidFill>
              </a:rPr>
              <a:t>Lesson learned - select an algorithm based on practical constraints (solution quality is primary concern)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2"/>
          <p:cNvSpPr txBox="1"/>
          <p:nvPr>
            <p:ph type="ctrTitle"/>
          </p:nvPr>
        </p:nvSpPr>
        <p:spPr>
          <a:xfrm>
            <a:off x="2794950" y="2058600"/>
            <a:ext cx="3554100" cy="1026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