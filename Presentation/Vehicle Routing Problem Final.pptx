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96f40c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96f40c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96f40c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96f40c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96f40c6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96f40c6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96f40c6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96f40c6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96f40c6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96f40c6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96f40c6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96f40c6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96f40c6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96f40c6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96f40c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96f40c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4105CE7-A926-9B35-E33E-2A37F590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96f40c6c_0_43:notes">
            <a:extLst>
              <a:ext uri="{FF2B5EF4-FFF2-40B4-BE49-F238E27FC236}">
                <a16:creationId xmlns:a16="http://schemas.microsoft.com/office/drawing/2014/main" id="{31B77746-98C0-D450-780F-ACAD95990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96f40c6c_0_43:notes">
            <a:extLst>
              <a:ext uri="{FF2B5EF4-FFF2-40B4-BE49-F238E27FC236}">
                <a16:creationId xmlns:a16="http://schemas.microsoft.com/office/drawing/2014/main" id="{44276E54-BFFC-226B-24F6-3E2606BF7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8491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3681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5915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3031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94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886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1144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684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524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C9CAD897-D46E-4AD2-BD9B-49DD3E640873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6059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296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3134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9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06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tqe/tspli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Vehicle Routing Problem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Adam Campbell, Tyler Gill, and Tristan Worthington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is the Vehicle Routing Problem (VRP)?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Find the most efficient route between a set of points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Dealing with constraints like capacity and Distance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Contains the Traveling Salesman Problem (TSP) as a special case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Labeled as NP-Hard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Examination of the VRP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Ant Colony Optimization (Nature Inspired)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Clarke-Wright (CW)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Nearest Neighbor Heuristic (NN)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Tabu Search (TS)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Programming Implementation - C++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Compiled Language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Control over low-level memory (manipulation of data structures)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Experimentation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Testing Multiple Input sizes (Euclidean Coordinates)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algorithm ran for 20 trials per configuration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Compared total route distances to assess accuracy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Averaged runtimes across each trial for each input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 1</a:t>
            </a: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How does the runtime of each algorithm grow as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>
                <a:solidFill>
                  <a:schemeClr val="dk1"/>
                </a:solidFill>
              </a:rPr>
              <a:t>       input (n) increases?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Results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As input (n) grows, each algorithm grows</a:t>
            </a:r>
            <a:endParaRPr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Each at different rates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NN exhibits slowesth growth - 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O(n²) </a:t>
            </a:r>
            <a:endParaRPr sz="15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CW shows moderate growth - 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en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n)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dirty="0">
                <a:solidFill>
                  <a:schemeClr val="dk1"/>
                </a:solidFill>
              </a:rPr>
              <a:t>TS has steeper growth rate -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O(k*n)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 dirty="0">
                <a:solidFill>
                  <a:schemeClr val="dk1"/>
                </a:solidFill>
              </a:rPr>
              <a:t>Ant Colony - Increase in runtime, high computational cost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9CF0F-71FD-9CEF-0659-BA5600BB4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017" y="1218755"/>
            <a:ext cx="4284133" cy="26097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 II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 what input size does one algorithm outperform another?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crossover was found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algorithm outperformed the next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Suggests stable performance ordering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7DF774-1720-FF69-B1AB-36DE4146CF53}"/>
              </a:ext>
            </a:extLst>
          </p:cNvPr>
          <p:cNvSpPr/>
          <p:nvPr/>
        </p:nvSpPr>
        <p:spPr>
          <a:xfrm>
            <a:off x="4832350" y="1152475"/>
            <a:ext cx="4165373" cy="257710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276A9F-CD2C-BC77-D80F-E871F397D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563" y="1195608"/>
            <a:ext cx="4088946" cy="24908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 II - Drawbacks/Further Look</a:t>
            </a: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2118150" y="1077661"/>
            <a:ext cx="490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Key limitations - Limited range of input sizes &amp; comparison to optimal solution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Crossover point missed 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Further experimentation - large scale instances and best-known solution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800" i="1" dirty="0">
                <a:solidFill>
                  <a:schemeClr val="dk1"/>
                </a:solidFill>
              </a:rPr>
              <a:t>Input size at which higher cost algorithms begin to justify runtime when compared to solution quality</a:t>
            </a:r>
            <a:endParaRPr sz="1800" i="1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Ultimately, order of scalability remains same across each input size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7ABF4-2454-6CBB-2876-DBD73BCE96D5}"/>
              </a:ext>
            </a:extLst>
          </p:cNvPr>
          <p:cNvSpPr/>
          <p:nvPr/>
        </p:nvSpPr>
        <p:spPr>
          <a:xfrm>
            <a:off x="4825205" y="1271190"/>
            <a:ext cx="4257681" cy="260111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 III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0955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How does runtime compare to solution accuracy?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Unexpected Results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3/4 algorithms perform nearly the same in terms of solution accuracy - slight deviations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Tabu Search breaks trend at n = 100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Failed to outperform simple heuristics - counterproductive at scale</a:t>
            </a:r>
            <a:endParaRPr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EC504-3D80-87C3-B1F3-B4074B1E2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862" y="1310481"/>
            <a:ext cx="4170369" cy="252253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 III - Drawbacks/Further Look</a:t>
            </a:r>
            <a:endParaRPr dirty="0"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Key limitations - Limited range of input sizes &amp; comparison to optimal solution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true measurement made - only relative measurements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experimentation - large scale instances, best-known solution, more trials</a:t>
            </a:r>
            <a:endParaRPr i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Purpose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Evaluate runtime scalability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Find solution accuracy of heuristic/metaheuristic approaches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Consistent tradeoff between efficiency and accuracy - NN &amp; CW scale well, maintain low runtime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TS and Ant Colony achieve higher quality at a significant computational cost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crossover observed - Limited by scope of input size, parameters, no optimal solution comparison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Lesson learned - select an algorithm based on practical constraints (solution quality is primary concern)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865E6DE0-072B-B4F1-A230-9EF3E51A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>
            <a:extLst>
              <a:ext uri="{FF2B5EF4-FFF2-40B4-BE49-F238E27FC236}">
                <a16:creationId xmlns:a16="http://schemas.microsoft.com/office/drawing/2014/main" id="{846BE95F-55D7-6345-8C0D-17A6BA4BA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 + AI STATEMENT</a:t>
            </a:r>
            <a:endParaRPr dirty="0"/>
          </a:p>
        </p:txBody>
      </p:sp>
      <p:sp>
        <p:nvSpPr>
          <p:cNvPr id="103" name="Google Shape;103;p21">
            <a:extLst>
              <a:ext uri="{FF2B5EF4-FFF2-40B4-BE49-F238E27FC236}">
                <a16:creationId xmlns:a16="http://schemas.microsoft.com/office/drawing/2014/main" id="{46782E58-9F57-29C0-76E5-9D7B5FC70E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u="sng" dirty="0">
                <a:hlinkClick r:id="rId3"/>
              </a:rPr>
              <a:t>https://github.com/mastqe/tsplib</a:t>
            </a:r>
            <a:endParaRPr lang="en-US" dirty="0"/>
          </a:p>
          <a:p>
            <a:pPr lvl="1"/>
            <a:r>
              <a:rPr lang="en-US" dirty="0"/>
              <a:t>[1] Reinelt, G. "TSPLIB--A Traveling Salesman Problem Library." ORSA Journal on Computing, Vol. 3, No. 4, pp. 376-384. Fall 1991.</a:t>
            </a:r>
          </a:p>
          <a:p>
            <a:r>
              <a:rPr lang="en-US" dirty="0"/>
              <a:t>Generative AI was used in the creation of the following:</a:t>
            </a:r>
          </a:p>
          <a:p>
            <a:pPr lvl="1"/>
            <a:r>
              <a:rPr lang="en-US" dirty="0"/>
              <a:t>Clarification of Time complexities for algorithms and clarification of the Vehicle Routing Problem for Checkpoint #1</a:t>
            </a:r>
          </a:p>
          <a:p>
            <a:pPr lvl="1"/>
            <a:r>
              <a:rPr lang="en-US" dirty="0"/>
              <a:t>Design and Debugging of clarkWright.cpp and antColony.cpp</a:t>
            </a:r>
          </a:p>
          <a:p>
            <a:pPr lvl="1"/>
            <a:r>
              <a:rPr lang="en-US" dirty="0"/>
              <a:t>Grammar check and clarity check when compared against final deliverables for 2400 Project Report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2863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;p22">
            <a:extLst>
              <a:ext uri="{FF2B5EF4-FFF2-40B4-BE49-F238E27FC236}">
                <a16:creationId xmlns:a16="http://schemas.microsoft.com/office/drawing/2014/main" id="{7EDDAAA5-4482-2CD5-1E82-17648DF53A3E}"/>
              </a:ext>
            </a:extLst>
          </p:cNvPr>
          <p:cNvSpPr txBox="1">
            <a:spLocks/>
          </p:cNvSpPr>
          <p:nvPr/>
        </p:nvSpPr>
        <p:spPr>
          <a:xfrm>
            <a:off x="2875210" y="2188628"/>
            <a:ext cx="3393579" cy="76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5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2824638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207</TotalTime>
  <Words>559</Words>
  <Application>Microsoft Office PowerPoint</Application>
  <PresentationFormat>On-screen Show (16:9)</PresentationFormat>
  <Paragraphs>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The Vehicle Routing Problem</vt:lpstr>
      <vt:lpstr>Introduction</vt:lpstr>
      <vt:lpstr>Methodology</vt:lpstr>
      <vt:lpstr>Research Question 1</vt:lpstr>
      <vt:lpstr>Research Question II</vt:lpstr>
      <vt:lpstr>Research Question II - Drawbacks/Further Look</vt:lpstr>
      <vt:lpstr>Research Question III</vt:lpstr>
      <vt:lpstr>Research Question III - Drawbacks/Further Look</vt:lpstr>
      <vt:lpstr>Conclusion</vt:lpstr>
      <vt:lpstr>REFERENCES + AI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Campbell, Adam (ancampbell46)</cp:lastModifiedBy>
  <cp:revision>3</cp:revision>
  <dcterms:modified xsi:type="dcterms:W3CDTF">2026-04-29T22:39:19Z</dcterms:modified>
</cp:coreProperties>
</file>